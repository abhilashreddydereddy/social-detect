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y="6858000" cx="12192000"/>
  <p:notesSz cx="9290050" cy="7004050"/>
  <p:embeddedFontLst>
    <p:embeddedFont>
      <p:font typeface="Roboto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42" roundtripDataSignature="AMtx7mgsS1D7mnsoEBNeMoNktPrY1wiX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B534E2F-1D5C-44E1-A210-C693553C9805}">
  <a:tblStyle styleId="{0B534E2F-1D5C-44E1-A210-C693553C980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italic.fntdata"/><Relationship Id="rId20" Type="http://schemas.openxmlformats.org/officeDocument/2006/relationships/slide" Target="slides/slide14.xml"/><Relationship Id="rId42" Type="http://customschemas.google.com/relationships/presentationmetadata" Target="metadata"/><Relationship Id="rId41" Type="http://schemas.openxmlformats.org/officeDocument/2006/relationships/font" Target="fonts/Roboto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Roboto-bold.fntdata"/><Relationship Id="rId16" Type="http://schemas.openxmlformats.org/officeDocument/2006/relationships/slide" Target="slides/slide10.xml"/><Relationship Id="rId38" Type="http://schemas.openxmlformats.org/officeDocument/2006/relationships/font" Target="fonts/Roboto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311400" y="525463"/>
            <a:ext cx="4667250" cy="2625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29005" y="3326924"/>
            <a:ext cx="7432040" cy="3151823"/>
          </a:xfrm>
          <a:prstGeom prst="rect">
            <a:avLst/>
          </a:prstGeom>
          <a:noFill/>
          <a:ln>
            <a:noFill/>
          </a:ln>
        </p:spPr>
        <p:txBody>
          <a:bodyPr anchorCtr="0" anchor="t" bIns="93075" lIns="93075" spcFirstLastPara="1" rIns="93075" wrap="square" tIns="9307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/>
          <p:nvPr>
            <p:ph idx="1" type="body"/>
          </p:nvPr>
        </p:nvSpPr>
        <p:spPr>
          <a:xfrm>
            <a:off x="929005" y="3326924"/>
            <a:ext cx="7432040" cy="3151823"/>
          </a:xfrm>
          <a:prstGeom prst="rect">
            <a:avLst/>
          </a:prstGeom>
          <a:noFill/>
          <a:ln>
            <a:noFill/>
          </a:ln>
        </p:spPr>
        <p:txBody>
          <a:bodyPr anchorCtr="0" anchor="t" bIns="93075" lIns="93075" spcFirstLastPara="1" rIns="93075" wrap="square" tIns="93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p1:notes"/>
          <p:cNvSpPr/>
          <p:nvPr>
            <p:ph idx="2" type="sldImg"/>
          </p:nvPr>
        </p:nvSpPr>
        <p:spPr>
          <a:xfrm>
            <a:off x="2311400" y="525463"/>
            <a:ext cx="4667250" cy="2625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5e6bdcc76_0_25:notes"/>
          <p:cNvSpPr/>
          <p:nvPr>
            <p:ph idx="2" type="sldImg"/>
          </p:nvPr>
        </p:nvSpPr>
        <p:spPr>
          <a:xfrm>
            <a:off x="2311400" y="525463"/>
            <a:ext cx="4667400" cy="2625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5e6bdcc76_0_25:notes"/>
          <p:cNvSpPr txBox="1"/>
          <p:nvPr>
            <p:ph idx="1" type="body"/>
          </p:nvPr>
        </p:nvSpPr>
        <p:spPr>
          <a:xfrm>
            <a:off x="929005" y="3326924"/>
            <a:ext cx="7431900" cy="3151800"/>
          </a:xfrm>
          <a:prstGeom prst="rect">
            <a:avLst/>
          </a:prstGeom>
        </p:spPr>
        <p:txBody>
          <a:bodyPr anchorCtr="0" anchor="t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306122bdb_0_36:notes"/>
          <p:cNvSpPr/>
          <p:nvPr>
            <p:ph idx="2" type="sldImg"/>
          </p:nvPr>
        </p:nvSpPr>
        <p:spPr>
          <a:xfrm>
            <a:off x="2311400" y="525463"/>
            <a:ext cx="4667400" cy="2625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8306122bdb_0_36:notes"/>
          <p:cNvSpPr txBox="1"/>
          <p:nvPr>
            <p:ph idx="1" type="body"/>
          </p:nvPr>
        </p:nvSpPr>
        <p:spPr>
          <a:xfrm>
            <a:off x="929005" y="3326924"/>
            <a:ext cx="7431900" cy="3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3075" lIns="93075" spcFirstLastPara="1" rIns="93075" wrap="square" tIns="93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5e6bdcc76_0_34:notes"/>
          <p:cNvSpPr/>
          <p:nvPr>
            <p:ph idx="2" type="sldImg"/>
          </p:nvPr>
        </p:nvSpPr>
        <p:spPr>
          <a:xfrm>
            <a:off x="2311400" y="525463"/>
            <a:ext cx="4667400" cy="2625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5e6bdcc76_0_34:notes"/>
          <p:cNvSpPr txBox="1"/>
          <p:nvPr>
            <p:ph idx="1" type="body"/>
          </p:nvPr>
        </p:nvSpPr>
        <p:spPr>
          <a:xfrm>
            <a:off x="929005" y="3326924"/>
            <a:ext cx="7431900" cy="3151800"/>
          </a:xfrm>
          <a:prstGeom prst="rect">
            <a:avLst/>
          </a:prstGeom>
        </p:spPr>
        <p:txBody>
          <a:bodyPr anchorCtr="0" anchor="t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306122bdb_0_61:notes"/>
          <p:cNvSpPr/>
          <p:nvPr>
            <p:ph idx="2" type="sldImg"/>
          </p:nvPr>
        </p:nvSpPr>
        <p:spPr>
          <a:xfrm>
            <a:off x="2311400" y="525463"/>
            <a:ext cx="4667400" cy="2625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8306122bdb_0_61:notes"/>
          <p:cNvSpPr txBox="1"/>
          <p:nvPr>
            <p:ph idx="1" type="body"/>
          </p:nvPr>
        </p:nvSpPr>
        <p:spPr>
          <a:xfrm>
            <a:off x="929005" y="3326924"/>
            <a:ext cx="7431900" cy="3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3075" lIns="93075" spcFirstLastPara="1" rIns="93075" wrap="square" tIns="93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6c5937f9a_1_12:notes"/>
          <p:cNvSpPr/>
          <p:nvPr>
            <p:ph idx="2" type="sldImg"/>
          </p:nvPr>
        </p:nvSpPr>
        <p:spPr>
          <a:xfrm>
            <a:off x="2311400" y="525463"/>
            <a:ext cx="4667400" cy="2625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376c5937f9a_1_12:notes"/>
          <p:cNvSpPr txBox="1"/>
          <p:nvPr>
            <p:ph idx="1" type="body"/>
          </p:nvPr>
        </p:nvSpPr>
        <p:spPr>
          <a:xfrm>
            <a:off x="929005" y="3326924"/>
            <a:ext cx="7431900" cy="3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3075" lIns="93075" spcFirstLastPara="1" rIns="93075" wrap="square" tIns="93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5e6bdcc76_0_6:notes"/>
          <p:cNvSpPr/>
          <p:nvPr>
            <p:ph idx="2" type="sldImg"/>
          </p:nvPr>
        </p:nvSpPr>
        <p:spPr>
          <a:xfrm>
            <a:off x="2311400" y="525463"/>
            <a:ext cx="4667400" cy="2625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5e6bdcc76_0_6:notes"/>
          <p:cNvSpPr txBox="1"/>
          <p:nvPr>
            <p:ph idx="1" type="body"/>
          </p:nvPr>
        </p:nvSpPr>
        <p:spPr>
          <a:xfrm>
            <a:off x="929005" y="3326924"/>
            <a:ext cx="7431900" cy="3151800"/>
          </a:xfrm>
          <a:prstGeom prst="rect">
            <a:avLst/>
          </a:prstGeom>
        </p:spPr>
        <p:txBody>
          <a:bodyPr anchorCtr="0" anchor="t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6c5937f9a_1_17:notes"/>
          <p:cNvSpPr/>
          <p:nvPr>
            <p:ph idx="2" type="sldImg"/>
          </p:nvPr>
        </p:nvSpPr>
        <p:spPr>
          <a:xfrm>
            <a:off x="2311400" y="525463"/>
            <a:ext cx="4667400" cy="2625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76c5937f9a_1_17:notes"/>
          <p:cNvSpPr txBox="1"/>
          <p:nvPr>
            <p:ph idx="1" type="body"/>
          </p:nvPr>
        </p:nvSpPr>
        <p:spPr>
          <a:xfrm>
            <a:off x="929005" y="3326924"/>
            <a:ext cx="7431900" cy="3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3075" lIns="93075" spcFirstLastPara="1" rIns="93075" wrap="square" tIns="93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5e6bdcc76_0_40:notes"/>
          <p:cNvSpPr/>
          <p:nvPr>
            <p:ph idx="2" type="sldImg"/>
          </p:nvPr>
        </p:nvSpPr>
        <p:spPr>
          <a:xfrm>
            <a:off x="2311400" y="525463"/>
            <a:ext cx="4667400" cy="2625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f5e6bdcc76_0_40:notes"/>
          <p:cNvSpPr txBox="1"/>
          <p:nvPr>
            <p:ph idx="1" type="body"/>
          </p:nvPr>
        </p:nvSpPr>
        <p:spPr>
          <a:xfrm>
            <a:off x="929005" y="3326924"/>
            <a:ext cx="7431900" cy="3151800"/>
          </a:xfrm>
          <a:prstGeom prst="rect">
            <a:avLst/>
          </a:prstGeom>
        </p:spPr>
        <p:txBody>
          <a:bodyPr anchorCtr="0" anchor="t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306122bdb_0_49:notes"/>
          <p:cNvSpPr/>
          <p:nvPr>
            <p:ph idx="2" type="sldImg"/>
          </p:nvPr>
        </p:nvSpPr>
        <p:spPr>
          <a:xfrm>
            <a:off x="2311400" y="525463"/>
            <a:ext cx="4667400" cy="2625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8306122bdb_0_49:notes"/>
          <p:cNvSpPr txBox="1"/>
          <p:nvPr>
            <p:ph idx="1" type="body"/>
          </p:nvPr>
        </p:nvSpPr>
        <p:spPr>
          <a:xfrm>
            <a:off x="929005" y="3326924"/>
            <a:ext cx="7431900" cy="3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3075" lIns="93075" spcFirstLastPara="1" rIns="93075" wrap="square" tIns="93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5e6bdcc76_1_0:notes"/>
          <p:cNvSpPr/>
          <p:nvPr>
            <p:ph idx="2" type="sldImg"/>
          </p:nvPr>
        </p:nvSpPr>
        <p:spPr>
          <a:xfrm>
            <a:off x="2311400" y="525463"/>
            <a:ext cx="4667400" cy="2625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f5e6bdcc76_1_0:notes"/>
          <p:cNvSpPr txBox="1"/>
          <p:nvPr>
            <p:ph idx="1" type="body"/>
          </p:nvPr>
        </p:nvSpPr>
        <p:spPr>
          <a:xfrm>
            <a:off x="929005" y="3326924"/>
            <a:ext cx="7431900" cy="3151800"/>
          </a:xfrm>
          <a:prstGeom prst="rect">
            <a:avLst/>
          </a:prstGeom>
        </p:spPr>
        <p:txBody>
          <a:bodyPr anchorCtr="0" anchor="t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:notes"/>
          <p:cNvSpPr txBox="1"/>
          <p:nvPr>
            <p:ph idx="1" type="body"/>
          </p:nvPr>
        </p:nvSpPr>
        <p:spPr>
          <a:xfrm>
            <a:off x="929005" y="3326924"/>
            <a:ext cx="7432040" cy="3151823"/>
          </a:xfrm>
          <a:prstGeom prst="rect">
            <a:avLst/>
          </a:prstGeom>
          <a:noFill/>
          <a:ln>
            <a:noFill/>
          </a:ln>
        </p:spPr>
        <p:txBody>
          <a:bodyPr anchorCtr="0" anchor="t" bIns="93075" lIns="93075" spcFirstLastPara="1" rIns="93075" wrap="square" tIns="93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p26:notes"/>
          <p:cNvSpPr/>
          <p:nvPr>
            <p:ph idx="2" type="sldImg"/>
          </p:nvPr>
        </p:nvSpPr>
        <p:spPr>
          <a:xfrm>
            <a:off x="2311400" y="525463"/>
            <a:ext cx="4667250" cy="2625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307a3c7fd_0_14:notes"/>
          <p:cNvSpPr/>
          <p:nvPr>
            <p:ph idx="2" type="sldImg"/>
          </p:nvPr>
        </p:nvSpPr>
        <p:spPr>
          <a:xfrm>
            <a:off x="2311400" y="525463"/>
            <a:ext cx="4667400" cy="2625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8307a3c7fd_0_14:notes"/>
          <p:cNvSpPr txBox="1"/>
          <p:nvPr>
            <p:ph idx="1" type="body"/>
          </p:nvPr>
        </p:nvSpPr>
        <p:spPr>
          <a:xfrm>
            <a:off x="929005" y="3326924"/>
            <a:ext cx="7431900" cy="3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3075" lIns="93075" spcFirstLastPara="1" rIns="93075" wrap="square" tIns="93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:notes"/>
          <p:cNvSpPr txBox="1"/>
          <p:nvPr>
            <p:ph idx="1" type="body"/>
          </p:nvPr>
        </p:nvSpPr>
        <p:spPr>
          <a:xfrm>
            <a:off x="929005" y="3326924"/>
            <a:ext cx="7432040" cy="3151823"/>
          </a:xfrm>
          <a:prstGeom prst="rect">
            <a:avLst/>
          </a:prstGeom>
          <a:noFill/>
          <a:ln>
            <a:noFill/>
          </a:ln>
        </p:spPr>
        <p:txBody>
          <a:bodyPr anchorCtr="0" anchor="t" bIns="93075" lIns="93075" spcFirstLastPara="1" rIns="93075" wrap="square" tIns="93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27:notes"/>
          <p:cNvSpPr/>
          <p:nvPr>
            <p:ph idx="2" type="sldImg"/>
          </p:nvPr>
        </p:nvSpPr>
        <p:spPr>
          <a:xfrm>
            <a:off x="2311400" y="525463"/>
            <a:ext cx="4667250" cy="2625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:notes"/>
          <p:cNvSpPr txBox="1"/>
          <p:nvPr>
            <p:ph idx="1" type="body"/>
          </p:nvPr>
        </p:nvSpPr>
        <p:spPr>
          <a:xfrm>
            <a:off x="929005" y="3326924"/>
            <a:ext cx="7432040" cy="3151823"/>
          </a:xfrm>
          <a:prstGeom prst="rect">
            <a:avLst/>
          </a:prstGeom>
          <a:noFill/>
          <a:ln>
            <a:noFill/>
          </a:ln>
        </p:spPr>
        <p:txBody>
          <a:bodyPr anchorCtr="0" anchor="t" bIns="93075" lIns="93075" spcFirstLastPara="1" rIns="93075" wrap="square" tIns="93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28:notes"/>
          <p:cNvSpPr/>
          <p:nvPr>
            <p:ph idx="2" type="sldImg"/>
          </p:nvPr>
        </p:nvSpPr>
        <p:spPr>
          <a:xfrm>
            <a:off x="2311400" y="525463"/>
            <a:ext cx="4667250" cy="2625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5e6bdcc76_1_6:notes"/>
          <p:cNvSpPr/>
          <p:nvPr>
            <p:ph idx="2" type="sldImg"/>
          </p:nvPr>
        </p:nvSpPr>
        <p:spPr>
          <a:xfrm>
            <a:off x="2311400" y="525463"/>
            <a:ext cx="4667400" cy="2625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f5e6bdcc76_1_6:notes"/>
          <p:cNvSpPr txBox="1"/>
          <p:nvPr>
            <p:ph idx="1" type="body"/>
          </p:nvPr>
        </p:nvSpPr>
        <p:spPr>
          <a:xfrm>
            <a:off x="929005" y="3326924"/>
            <a:ext cx="7431900" cy="3151800"/>
          </a:xfrm>
          <a:prstGeom prst="rect">
            <a:avLst/>
          </a:prstGeom>
        </p:spPr>
        <p:txBody>
          <a:bodyPr anchorCtr="0" anchor="t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:notes"/>
          <p:cNvSpPr txBox="1"/>
          <p:nvPr>
            <p:ph idx="1" type="body"/>
          </p:nvPr>
        </p:nvSpPr>
        <p:spPr>
          <a:xfrm>
            <a:off x="929005" y="3326924"/>
            <a:ext cx="7432040" cy="3151823"/>
          </a:xfrm>
          <a:prstGeom prst="rect">
            <a:avLst/>
          </a:prstGeom>
          <a:noFill/>
          <a:ln>
            <a:noFill/>
          </a:ln>
        </p:spPr>
        <p:txBody>
          <a:bodyPr anchorCtr="0" anchor="t" bIns="93075" lIns="93075" spcFirstLastPara="1" rIns="93075" wrap="square" tIns="93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p29:notes"/>
          <p:cNvSpPr/>
          <p:nvPr>
            <p:ph idx="2" type="sldImg"/>
          </p:nvPr>
        </p:nvSpPr>
        <p:spPr>
          <a:xfrm>
            <a:off x="2311400" y="525463"/>
            <a:ext cx="4667250" cy="2625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:notes"/>
          <p:cNvSpPr txBox="1"/>
          <p:nvPr>
            <p:ph idx="1" type="body"/>
          </p:nvPr>
        </p:nvSpPr>
        <p:spPr>
          <a:xfrm>
            <a:off x="929005" y="3326924"/>
            <a:ext cx="7432040" cy="3151823"/>
          </a:xfrm>
          <a:prstGeom prst="rect">
            <a:avLst/>
          </a:prstGeom>
          <a:noFill/>
          <a:ln>
            <a:noFill/>
          </a:ln>
        </p:spPr>
        <p:txBody>
          <a:bodyPr anchorCtr="0" anchor="t" bIns="93075" lIns="93075" spcFirstLastPara="1" rIns="93075" wrap="square" tIns="93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p30:notes"/>
          <p:cNvSpPr/>
          <p:nvPr>
            <p:ph idx="2" type="sldImg"/>
          </p:nvPr>
        </p:nvSpPr>
        <p:spPr>
          <a:xfrm>
            <a:off x="2311400" y="525463"/>
            <a:ext cx="4667250" cy="2625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:notes"/>
          <p:cNvSpPr txBox="1"/>
          <p:nvPr>
            <p:ph idx="1" type="body"/>
          </p:nvPr>
        </p:nvSpPr>
        <p:spPr>
          <a:xfrm>
            <a:off x="929005" y="3326924"/>
            <a:ext cx="7432040" cy="3151823"/>
          </a:xfrm>
          <a:prstGeom prst="rect">
            <a:avLst/>
          </a:prstGeom>
          <a:noFill/>
          <a:ln>
            <a:noFill/>
          </a:ln>
        </p:spPr>
        <p:txBody>
          <a:bodyPr anchorCtr="0" anchor="t" bIns="93075" lIns="93075" spcFirstLastPara="1" rIns="93075" wrap="square" tIns="93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p31:notes"/>
          <p:cNvSpPr/>
          <p:nvPr>
            <p:ph idx="2" type="sldImg"/>
          </p:nvPr>
        </p:nvSpPr>
        <p:spPr>
          <a:xfrm>
            <a:off x="2311400" y="525463"/>
            <a:ext cx="4667250" cy="2625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7b85e15185_0_8:notes"/>
          <p:cNvSpPr txBox="1"/>
          <p:nvPr>
            <p:ph idx="1" type="body"/>
          </p:nvPr>
        </p:nvSpPr>
        <p:spPr>
          <a:xfrm>
            <a:off x="929005" y="3326924"/>
            <a:ext cx="7431900" cy="3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3075" lIns="93075" spcFirstLastPara="1" rIns="93075" wrap="square" tIns="93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g37b85e15185_0_8:notes"/>
          <p:cNvSpPr/>
          <p:nvPr>
            <p:ph idx="2" type="sldImg"/>
          </p:nvPr>
        </p:nvSpPr>
        <p:spPr>
          <a:xfrm>
            <a:off x="2311400" y="525463"/>
            <a:ext cx="4667400" cy="2625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:notes"/>
          <p:cNvSpPr txBox="1"/>
          <p:nvPr>
            <p:ph idx="1" type="body"/>
          </p:nvPr>
        </p:nvSpPr>
        <p:spPr>
          <a:xfrm>
            <a:off x="929005" y="3326924"/>
            <a:ext cx="7432040" cy="3151823"/>
          </a:xfrm>
          <a:prstGeom prst="rect">
            <a:avLst/>
          </a:prstGeom>
          <a:noFill/>
          <a:ln>
            <a:noFill/>
          </a:ln>
        </p:spPr>
        <p:txBody>
          <a:bodyPr anchorCtr="0" anchor="t" bIns="93075" lIns="93075" spcFirstLastPara="1" rIns="93075" wrap="square" tIns="93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p32:notes"/>
          <p:cNvSpPr/>
          <p:nvPr>
            <p:ph idx="2" type="sldImg"/>
          </p:nvPr>
        </p:nvSpPr>
        <p:spPr>
          <a:xfrm>
            <a:off x="2311400" y="525463"/>
            <a:ext cx="4667250" cy="2625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:notes"/>
          <p:cNvSpPr txBox="1"/>
          <p:nvPr>
            <p:ph idx="1" type="body"/>
          </p:nvPr>
        </p:nvSpPr>
        <p:spPr>
          <a:xfrm>
            <a:off x="929005" y="3326924"/>
            <a:ext cx="7432040" cy="3151823"/>
          </a:xfrm>
          <a:prstGeom prst="rect">
            <a:avLst/>
          </a:prstGeom>
          <a:noFill/>
          <a:ln>
            <a:noFill/>
          </a:ln>
        </p:spPr>
        <p:txBody>
          <a:bodyPr anchorCtr="0" anchor="t" bIns="93075" lIns="93075" spcFirstLastPara="1" rIns="93075" wrap="square" tIns="93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p33:notes"/>
          <p:cNvSpPr/>
          <p:nvPr>
            <p:ph idx="2" type="sldImg"/>
          </p:nvPr>
        </p:nvSpPr>
        <p:spPr>
          <a:xfrm>
            <a:off x="2311400" y="525463"/>
            <a:ext cx="4667250" cy="2625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4:notes"/>
          <p:cNvSpPr txBox="1"/>
          <p:nvPr>
            <p:ph idx="1" type="body"/>
          </p:nvPr>
        </p:nvSpPr>
        <p:spPr>
          <a:xfrm>
            <a:off x="929005" y="3326924"/>
            <a:ext cx="7432040" cy="3151823"/>
          </a:xfrm>
          <a:prstGeom prst="rect">
            <a:avLst/>
          </a:prstGeom>
          <a:noFill/>
          <a:ln>
            <a:noFill/>
          </a:ln>
        </p:spPr>
        <p:txBody>
          <a:bodyPr anchorCtr="0" anchor="t" bIns="93075" lIns="93075" spcFirstLastPara="1" rIns="93075" wrap="square" tIns="93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p34:notes"/>
          <p:cNvSpPr/>
          <p:nvPr>
            <p:ph idx="2" type="sldImg"/>
          </p:nvPr>
        </p:nvSpPr>
        <p:spPr>
          <a:xfrm>
            <a:off x="2311400" y="525463"/>
            <a:ext cx="4667250" cy="2625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5:notes"/>
          <p:cNvSpPr txBox="1"/>
          <p:nvPr>
            <p:ph idx="1" type="body"/>
          </p:nvPr>
        </p:nvSpPr>
        <p:spPr>
          <a:xfrm>
            <a:off x="929005" y="3326924"/>
            <a:ext cx="7432040" cy="3151823"/>
          </a:xfrm>
          <a:prstGeom prst="rect">
            <a:avLst/>
          </a:prstGeom>
          <a:noFill/>
          <a:ln>
            <a:noFill/>
          </a:ln>
        </p:spPr>
        <p:txBody>
          <a:bodyPr anchorCtr="0" anchor="t" bIns="93075" lIns="93075" spcFirstLastPara="1" rIns="93075" wrap="square" tIns="93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6" name="Google Shape;236;p35:notes"/>
          <p:cNvSpPr/>
          <p:nvPr>
            <p:ph idx="2" type="sldImg"/>
          </p:nvPr>
        </p:nvSpPr>
        <p:spPr>
          <a:xfrm>
            <a:off x="2311400" y="525463"/>
            <a:ext cx="4667250" cy="2625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6:notes"/>
          <p:cNvSpPr txBox="1"/>
          <p:nvPr>
            <p:ph idx="1" type="body"/>
          </p:nvPr>
        </p:nvSpPr>
        <p:spPr>
          <a:xfrm>
            <a:off x="929005" y="3326924"/>
            <a:ext cx="7432040" cy="3151823"/>
          </a:xfrm>
          <a:prstGeom prst="rect">
            <a:avLst/>
          </a:prstGeom>
          <a:noFill/>
          <a:ln>
            <a:noFill/>
          </a:ln>
        </p:spPr>
        <p:txBody>
          <a:bodyPr anchorCtr="0" anchor="t" bIns="93075" lIns="93075" spcFirstLastPara="1" rIns="93075" wrap="square" tIns="93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" name="Google Shape;244;p36:notes"/>
          <p:cNvSpPr/>
          <p:nvPr>
            <p:ph idx="2" type="sldImg"/>
          </p:nvPr>
        </p:nvSpPr>
        <p:spPr>
          <a:xfrm>
            <a:off x="2311400" y="525463"/>
            <a:ext cx="4667250" cy="2625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7:notes"/>
          <p:cNvSpPr txBox="1"/>
          <p:nvPr>
            <p:ph idx="1" type="body"/>
          </p:nvPr>
        </p:nvSpPr>
        <p:spPr>
          <a:xfrm>
            <a:off x="929005" y="3326924"/>
            <a:ext cx="7432040" cy="3151823"/>
          </a:xfrm>
          <a:prstGeom prst="rect">
            <a:avLst/>
          </a:prstGeom>
          <a:noFill/>
          <a:ln>
            <a:noFill/>
          </a:ln>
        </p:spPr>
        <p:txBody>
          <a:bodyPr anchorCtr="0" anchor="t" bIns="93075" lIns="93075" spcFirstLastPara="1" rIns="93075" wrap="square" tIns="93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0" name="Google Shape;250;p37:notes"/>
          <p:cNvSpPr/>
          <p:nvPr>
            <p:ph idx="2" type="sldImg"/>
          </p:nvPr>
        </p:nvSpPr>
        <p:spPr>
          <a:xfrm>
            <a:off x="2311400" y="525463"/>
            <a:ext cx="4667250" cy="2625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79424e9f92_1_2:notes"/>
          <p:cNvSpPr/>
          <p:nvPr>
            <p:ph idx="2" type="sldImg"/>
          </p:nvPr>
        </p:nvSpPr>
        <p:spPr>
          <a:xfrm>
            <a:off x="2311400" y="525463"/>
            <a:ext cx="4667400" cy="2625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379424e9f92_1_2:notes"/>
          <p:cNvSpPr txBox="1"/>
          <p:nvPr>
            <p:ph idx="1" type="body"/>
          </p:nvPr>
        </p:nvSpPr>
        <p:spPr>
          <a:xfrm>
            <a:off x="929005" y="3326924"/>
            <a:ext cx="7431900" cy="3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3075" lIns="93075" spcFirstLastPara="1" rIns="93075" wrap="square" tIns="93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8:notes"/>
          <p:cNvSpPr txBox="1"/>
          <p:nvPr>
            <p:ph idx="1" type="body"/>
          </p:nvPr>
        </p:nvSpPr>
        <p:spPr>
          <a:xfrm>
            <a:off x="929005" y="3326924"/>
            <a:ext cx="7432040" cy="3151823"/>
          </a:xfrm>
          <a:prstGeom prst="rect">
            <a:avLst/>
          </a:prstGeom>
          <a:noFill/>
          <a:ln>
            <a:noFill/>
          </a:ln>
        </p:spPr>
        <p:txBody>
          <a:bodyPr anchorCtr="0" anchor="t" bIns="93075" lIns="93075" spcFirstLastPara="1" rIns="93075" wrap="square" tIns="93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3" name="Google Shape;263;p38:notes"/>
          <p:cNvSpPr/>
          <p:nvPr>
            <p:ph idx="2" type="sldImg"/>
          </p:nvPr>
        </p:nvSpPr>
        <p:spPr>
          <a:xfrm>
            <a:off x="2311400" y="525463"/>
            <a:ext cx="4667250" cy="2625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76c5937f9a_1_1:notes"/>
          <p:cNvSpPr/>
          <p:nvPr>
            <p:ph idx="2" type="sldImg"/>
          </p:nvPr>
        </p:nvSpPr>
        <p:spPr>
          <a:xfrm>
            <a:off x="2311400" y="525463"/>
            <a:ext cx="4667400" cy="2625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376c5937f9a_1_1:notes"/>
          <p:cNvSpPr txBox="1"/>
          <p:nvPr>
            <p:ph idx="1" type="body"/>
          </p:nvPr>
        </p:nvSpPr>
        <p:spPr>
          <a:xfrm>
            <a:off x="929005" y="3326924"/>
            <a:ext cx="7431900" cy="3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3075" lIns="93075" spcFirstLastPara="1" rIns="93075" wrap="square" tIns="93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8306122bdb_0_6:notes"/>
          <p:cNvSpPr/>
          <p:nvPr>
            <p:ph idx="2" type="sldImg"/>
          </p:nvPr>
        </p:nvSpPr>
        <p:spPr>
          <a:xfrm>
            <a:off x="2311400" y="525463"/>
            <a:ext cx="4667400" cy="2625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8306122bdb_0_6:notes"/>
          <p:cNvSpPr txBox="1"/>
          <p:nvPr>
            <p:ph idx="1" type="body"/>
          </p:nvPr>
        </p:nvSpPr>
        <p:spPr>
          <a:xfrm>
            <a:off x="929005" y="3326924"/>
            <a:ext cx="7431900" cy="3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3075" lIns="93075" spcFirstLastPara="1" rIns="93075" wrap="square" tIns="930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5e6bdcc76_0_17:notes"/>
          <p:cNvSpPr/>
          <p:nvPr>
            <p:ph idx="2" type="sldImg"/>
          </p:nvPr>
        </p:nvSpPr>
        <p:spPr>
          <a:xfrm>
            <a:off x="2311400" y="525463"/>
            <a:ext cx="4667400" cy="2625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f5e6bdcc76_0_17:notes"/>
          <p:cNvSpPr txBox="1"/>
          <p:nvPr>
            <p:ph idx="1" type="body"/>
          </p:nvPr>
        </p:nvSpPr>
        <p:spPr>
          <a:xfrm>
            <a:off x="929005" y="3326924"/>
            <a:ext cx="7431900" cy="3151800"/>
          </a:xfrm>
          <a:prstGeom prst="rect">
            <a:avLst/>
          </a:prstGeom>
        </p:spPr>
        <p:txBody>
          <a:bodyPr anchorCtr="0" anchor="t" bIns="93075" lIns="93075" spcFirstLastPara="1" rIns="93075" wrap="square" tIns="93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6000"/>
              <a:buFont typeface="Times New Roman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5496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2800"/>
              <a:buChar char="•"/>
              <a:defRPr>
                <a:solidFill>
                  <a:srgbClr val="1F3864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F3864"/>
              </a:buClr>
              <a:buSzPts val="2400"/>
              <a:buChar char="•"/>
              <a:defRPr>
                <a:solidFill>
                  <a:srgbClr val="1F3864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F3864"/>
              </a:buClr>
              <a:buSzPts val="2000"/>
              <a:buChar char="•"/>
              <a:defRPr>
                <a:solidFill>
                  <a:srgbClr val="1F3864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F3864"/>
              </a:buClr>
              <a:buSzPts val="1800"/>
              <a:buChar char="•"/>
              <a:defRPr>
                <a:solidFill>
                  <a:srgbClr val="1F3864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F3864"/>
              </a:buClr>
              <a:buSzPts val="1800"/>
              <a:buChar char="•"/>
              <a:defRPr>
                <a:solidFill>
                  <a:srgbClr val="1F3864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3" name="Google Shape;23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58438" y="6040438"/>
            <a:ext cx="995362" cy="6810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" name="Google Shape;24;p15"/>
          <p:cNvCxnSpPr/>
          <p:nvPr/>
        </p:nvCxnSpPr>
        <p:spPr>
          <a:xfrm>
            <a:off x="1271846" y="1690688"/>
            <a:ext cx="9218816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6000"/>
              <a:buFont typeface="Times New Roman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5496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5496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5496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5496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5496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5496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200"/>
              <a:buFont typeface="Times New Roman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5496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5" name="Google Shape;55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5496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6" name="Google Shape;5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200"/>
              <a:buFont typeface="Times New Roman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5496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5496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5496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400"/>
              <a:buFont typeface="Times New Roman"/>
              <a:buNone/>
              <a:defRPr b="0" i="0" sz="4400" u="none" cap="none" strike="noStrik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5496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hyperlink" Target="https://ieeexplore.ieee.org/Xplore/home.jsp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cs.google.com/document/d/1zaOJ-DulkallteErqhO5Ok4Bry59dz4V3NTR9z4BWdw/edit?tab=t.0" TargetMode="External"/><Relationship Id="rId4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rive.google.com/file/d/1OYOKeHowdRByJ3l5IDTC1mHLZL2KakBU/view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203.201.63.46/library/e_resource.html" TargetMode="External"/><Relationship Id="rId4" Type="http://schemas.openxmlformats.org/officeDocument/2006/relationships/hyperlink" Target="https://access.vtuconsortium.com/cmrit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docs.google.com/spreadsheets/d/1imhujmyAJL_WCevA79GfLO9cXbQCG-aAnKd6GGVvHBI/edit?gid=607690288#gid=607690288" TargetMode="External"/><Relationship Id="rId4" Type="http://schemas.openxmlformats.org/officeDocument/2006/relationships/hyperlink" Target="https://docs.google.com/spreadsheets/d/1imhujmyAJL_WCevA79GfLO9cXbQCG-aAnKd6GGVvHBI/edit?gid=607690288#gid=607690288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conferences.ieee.org/conferences_events/conferences/search?q=*&amp;subsequent_q=&amp;date=all&amp;from=&amp;to=&amp;region=all&amp;country=all&amp;pos=0&amp;sortorder=asc&amp;sponsor=&amp;sponsor_type=all&amp;state=all&amp;field_of_interest=all&amp;sortfield=dates&amp;searchmode=basic&amp;virtualConfReadOnly=N&amp;eventformat=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www.ieee.org/conferences/publishing/templates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drive.google.com/file/d/1OYOKeHowdRByJ3l5IDTC1mHLZL2KakBU/view?usp=sharing" TargetMode="External"/><Relationship Id="rId4" Type="http://schemas.openxmlformats.org/officeDocument/2006/relationships/hyperlink" Target="https://drive.google.com/file/d/1bLYhJLuQnnq8F5h7Sj06hbEtScmWTYdi/view?usp=sharing" TargetMode="External"/><Relationship Id="rId5" Type="http://schemas.openxmlformats.org/officeDocument/2006/relationships/hyperlink" Target="https://drive.google.com/file/d/1goNRUYbEOoHebPu5zAVMWDuDuoNSJQbP/view?usp=sharing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/>
          <p:nvPr>
            <p:ph type="ctrTitle"/>
          </p:nvPr>
        </p:nvSpPr>
        <p:spPr>
          <a:xfrm>
            <a:off x="1000350" y="1600200"/>
            <a:ext cx="10175700" cy="2747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ct val="253568"/>
              <a:buFont typeface="Times New Roman"/>
              <a:buNone/>
            </a:pPr>
            <a:b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BCS786 – Major Project Phase – II </a:t>
            </a:r>
            <a:r>
              <a:rPr b="1" lang="en-IN" sz="4400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Paper Drafting – IEEE Conference</a:t>
            </a:r>
            <a:endParaRPr b="1" sz="4400">
              <a:solidFill>
                <a:srgbClr val="C55A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1"/>
          <p:cNvSpPr txBox="1"/>
          <p:nvPr>
            <p:ph idx="1" type="subTitle"/>
          </p:nvPr>
        </p:nvSpPr>
        <p:spPr>
          <a:xfrm>
            <a:off x="1681941" y="4046596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5496"/>
              </a:buClr>
              <a:buSzPts val="2400"/>
              <a:buNone/>
            </a:pPr>
            <a:r>
              <a:rPr lang="en-IN"/>
              <a:t>29th July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, 202</a:t>
            </a:r>
            <a:r>
              <a:rPr lang="en-IN"/>
              <a:t>6</a:t>
            </a:r>
            <a:endParaRPr/>
          </a:p>
        </p:txBody>
      </p:sp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8578" y="474604"/>
            <a:ext cx="1990725" cy="1362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5" name="Google Shape;85;p1"/>
          <p:cNvCxnSpPr/>
          <p:nvPr/>
        </p:nvCxnSpPr>
        <p:spPr>
          <a:xfrm>
            <a:off x="2884516" y="3366655"/>
            <a:ext cx="6608619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5e6bdcc76_0_25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f5e6bdcc76_0_25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g3f5e6bdcc76_0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g3f5e6bdcc76_0_25"/>
          <p:cNvSpPr txBox="1"/>
          <p:nvPr/>
        </p:nvSpPr>
        <p:spPr>
          <a:xfrm>
            <a:off x="4251400" y="5547750"/>
            <a:ext cx="8680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300" u="sng">
                <a:solidFill>
                  <a:schemeClr val="hlink"/>
                </a:solidFill>
                <a:hlinkClick r:id="rId4"/>
              </a:rPr>
              <a:t>https://ieeexplore.ieee.org/Xplore/home.jsp</a:t>
            </a:r>
            <a:endParaRPr sz="2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306122bdb_0_36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IN"/>
              <a:t>Steps to be followed</a:t>
            </a:r>
            <a:endParaRPr/>
          </a:p>
        </p:txBody>
      </p:sp>
      <p:pic>
        <p:nvPicPr>
          <p:cNvPr id="99" name="Google Shape;99;g38306122bdb_0_36" title="ieee_workflow_premium (3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6500" y="46213"/>
            <a:ext cx="2827300" cy="6765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8306122bdb_0_36"/>
          <p:cNvSpPr txBox="1"/>
          <p:nvPr>
            <p:ph idx="4294967295" type="body"/>
          </p:nvPr>
        </p:nvSpPr>
        <p:spPr>
          <a:xfrm>
            <a:off x="838200" y="2075675"/>
            <a:ext cx="7494000" cy="38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b="1" lang="en-IN" sz="3300" u="sng"/>
              <a:t>Duration:</a:t>
            </a:r>
            <a:endParaRPr b="1" sz="3300" u="sng"/>
          </a:p>
          <a:p>
            <a:pPr indent="-438150" lvl="0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3300"/>
              <a:buAutoNum type="arabicPeriod"/>
            </a:pPr>
            <a:r>
              <a:rPr lang="en-IN" sz="3300"/>
              <a:t>RCID </a:t>
            </a:r>
            <a:r>
              <a:rPr b="1" i="1" lang="en-IN" sz="1900"/>
              <a:t>(College Level Review)</a:t>
            </a:r>
            <a:r>
              <a:rPr lang="en-IN" sz="3300"/>
              <a:t>        - Max. 10 days</a:t>
            </a:r>
            <a:endParaRPr sz="3300"/>
          </a:p>
          <a:p>
            <a:pPr indent="-43815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AutoNum type="arabicPeriod"/>
            </a:pPr>
            <a:r>
              <a:rPr lang="en-IN" sz="3300"/>
              <a:t>Conference Acceptance  - Max. 45 days</a:t>
            </a:r>
            <a:endParaRPr sz="33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33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900">
              <a:solidFill>
                <a:srgbClr val="CC4125"/>
              </a:solidFill>
            </a:endParaRPr>
          </a:p>
        </p:txBody>
      </p:sp>
      <p:cxnSp>
        <p:nvCxnSpPr>
          <p:cNvPr id="101" name="Google Shape;101;g38306122bdb_0_36"/>
          <p:cNvCxnSpPr/>
          <p:nvPr/>
        </p:nvCxnSpPr>
        <p:spPr>
          <a:xfrm>
            <a:off x="721575" y="1589875"/>
            <a:ext cx="7401600" cy="13800"/>
          </a:xfrm>
          <a:prstGeom prst="straightConnector1">
            <a:avLst/>
          </a:prstGeom>
          <a:noFill/>
          <a:ln cap="flat" cmpd="sng" w="9525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g38306122bdb_0_36"/>
          <p:cNvSpPr/>
          <p:nvPr/>
        </p:nvSpPr>
        <p:spPr>
          <a:xfrm>
            <a:off x="585450" y="3903750"/>
            <a:ext cx="7997700" cy="1965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IN" sz="2600" u="sng" cap="none" strike="noStrike">
                <a:solidFill>
                  <a:srgbClr val="CC41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 Dates</a:t>
            </a:r>
            <a:endParaRPr b="1" i="0" sz="2600" u="sng" cap="none" strike="noStrike">
              <a:solidFill>
                <a:srgbClr val="CC41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0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Conference Draft Paper with RCID  - 31/08/2026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0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Submission to IEEE conference 	              - 14/09/2026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0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Registration Screenshot from conference   - 28/10/2026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5e6bdcc76_0_34"/>
          <p:cNvSpPr txBox="1"/>
          <p:nvPr>
            <p:ph type="ctrTitle"/>
          </p:nvPr>
        </p:nvSpPr>
        <p:spPr>
          <a:xfrm>
            <a:off x="1524000" y="1122383"/>
            <a:ext cx="9345300" cy="4049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Financial Support for Publication by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CMRIT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306122bdb_0_6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t/>
            </a:r>
            <a:endParaRPr/>
          </a:p>
        </p:txBody>
      </p:sp>
      <p:sp>
        <p:nvSpPr>
          <p:cNvPr id="113" name="Google Shape;113;g38306122bdb_0_6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14" name="Google Shape;114;g38306122bdb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0638" y="200025"/>
            <a:ext cx="9610725" cy="645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76c5937f9a_1_12"/>
          <p:cNvSpPr txBox="1"/>
          <p:nvPr>
            <p:ph type="title"/>
          </p:nvPr>
        </p:nvSpPr>
        <p:spPr>
          <a:xfrm>
            <a:off x="545475" y="52298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i="1" lang="en-IN">
                <a:solidFill>
                  <a:srgbClr val="CC4125"/>
                </a:solidFill>
              </a:rPr>
              <a:t>IEEE Conference Paper should be Research Paper Only</a:t>
            </a:r>
            <a:r>
              <a:rPr lang="en-IN"/>
              <a:t> </a:t>
            </a:r>
            <a:endParaRPr/>
          </a:p>
        </p:txBody>
      </p:sp>
      <p:sp>
        <p:nvSpPr>
          <p:cNvPr id="120" name="Google Shape;120;g376c5937f9a_1_12"/>
          <p:cNvSpPr txBox="1"/>
          <p:nvPr>
            <p:ph idx="1" type="body"/>
          </p:nvPr>
        </p:nvSpPr>
        <p:spPr>
          <a:xfrm>
            <a:off x="838200" y="2075675"/>
            <a:ext cx="10515600" cy="38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38150" lvl="0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3300"/>
              <a:buChar char="•"/>
            </a:pPr>
            <a:r>
              <a:rPr lang="en-IN" sz="3300"/>
              <a:t>Research Project</a:t>
            </a:r>
            <a:endParaRPr sz="3300"/>
          </a:p>
          <a:p>
            <a:pPr indent="-43815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Char char="•"/>
            </a:pPr>
            <a:r>
              <a:rPr lang="en-IN" sz="3300"/>
              <a:t>Application Project</a:t>
            </a:r>
            <a:endParaRPr sz="3300"/>
          </a:p>
          <a:p>
            <a:pPr indent="-43815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Char char="•"/>
            </a:pPr>
            <a:r>
              <a:rPr lang="en-IN" sz="3300"/>
              <a:t>Product</a:t>
            </a:r>
            <a:endParaRPr sz="33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33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3300"/>
          </a:p>
        </p:txBody>
      </p:sp>
      <p:sp>
        <p:nvSpPr>
          <p:cNvPr id="121" name="Google Shape;121;g376c5937f9a_1_12"/>
          <p:cNvSpPr txBox="1"/>
          <p:nvPr>
            <p:ph type="title"/>
          </p:nvPr>
        </p:nvSpPr>
        <p:spPr>
          <a:xfrm>
            <a:off x="990600" y="5175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Types of Major Projects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5e6bdcc76_0_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Registration</a:t>
            </a:r>
            <a:endParaRPr/>
          </a:p>
        </p:txBody>
      </p:sp>
      <p:pic>
        <p:nvPicPr>
          <p:cNvPr id="127" name="Google Shape;127;g3f5e6bdcc76_0_6" title="QR_Hands-on Workshop on “Research Paper Writing”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6c5937f9a_1_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Deciding the Title of the Paper</a:t>
            </a:r>
            <a:endParaRPr/>
          </a:p>
        </p:txBody>
      </p:sp>
      <p:pic>
        <p:nvPicPr>
          <p:cNvPr id="133" name="Google Shape;133;g376c5937f9a_1_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091075"/>
            <a:ext cx="10838851" cy="3445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5e6bdcc76_0_4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f5e6bdcc76_0_4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Attendance System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Deep Learning Based Smart Attendance System Using Face Recognition 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306122bdb_0_4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Few Examples</a:t>
            </a:r>
            <a:endParaRPr/>
          </a:p>
        </p:txBody>
      </p:sp>
      <p:sp>
        <p:nvSpPr>
          <p:cNvPr id="145" name="Google Shape;145;g38306122bdb_0_4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AutoNum type="arabicPeriod"/>
            </a:pPr>
            <a:r>
              <a:rPr lang="en-IN"/>
              <a:t>Deepfake MRI Detection: A ViViT-Based Landmark Feature Extraction Approach for Brain Tumor Scans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AutoNum type="arabicPeriod" startAt="2"/>
            </a:pPr>
            <a:r>
              <a:rPr lang="en-IN"/>
              <a:t>Attention-Enhanced Vision Transformer Model for Precise Skin Cancer Detection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5e6bdcc76_1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IN"/>
              <a:t>Group Activity</a:t>
            </a:r>
            <a:endParaRPr/>
          </a:p>
        </p:txBody>
      </p:sp>
      <p:sp>
        <p:nvSpPr>
          <p:cNvPr id="151" name="Google Shape;151;g3f5e6bdcc76_1_0"/>
          <p:cNvSpPr txBox="1"/>
          <p:nvPr>
            <p:ph idx="1" type="body"/>
          </p:nvPr>
        </p:nvSpPr>
        <p:spPr>
          <a:xfrm>
            <a:off x="838200" y="1825625"/>
            <a:ext cx="39450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44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44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44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1700" u="sng">
                <a:solidFill>
                  <a:srgbClr val="1A73E8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https://docs.google.com/document/d/1zaOJ-DulkallteErqhO5Ok4Bry59dz4V3NTR9z4BWdw/edit?tab=t.0</a:t>
            </a:r>
            <a:endParaRPr b="1" sz="5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g3f5e6bdcc76_1_0" title="Untitled 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None/>
            </a:pPr>
            <a:r>
              <a:rPr lang="en-IN"/>
              <a:t>Abstract  </a:t>
            </a:r>
            <a:r>
              <a:rPr lang="en-IN" sz="3400">
                <a:solidFill>
                  <a:srgbClr val="0000FF"/>
                </a:solidFill>
              </a:rPr>
              <a:t>(Structure)</a:t>
            </a:r>
            <a:endParaRPr sz="3400">
              <a:solidFill>
                <a:srgbClr val="0000FF"/>
              </a:solidFill>
            </a:endParaRPr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248850" y="1825625"/>
            <a:ext cx="7218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b="0" i="0" lang="en-IN" sz="20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Abstract structure is as follows:(the sentence should not be complex, it should be simple) – 150 to 160 words.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2000"/>
              <a:buChar char="•"/>
            </a:pPr>
            <a:r>
              <a:rPr b="0" i="0" lang="en-IN" sz="20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Sentence 1: Introduction 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2000"/>
              <a:buChar char="•"/>
            </a:pPr>
            <a:r>
              <a:rPr b="0" i="0" lang="en-IN" sz="20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Sentence 2: Problem Statement(drawback of the existing system) 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2000"/>
              <a:buChar char="•"/>
            </a:pPr>
            <a:r>
              <a:rPr b="0" i="0" lang="en-IN" sz="20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sentence 3: solution for mentioning the Proposed algorithm 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2000"/>
              <a:buChar char="•"/>
            </a:pPr>
            <a:r>
              <a:rPr b="0" i="0" lang="en-IN" sz="20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Sentence 4: details about the proposed system. 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2000"/>
              <a:buChar char="•"/>
            </a:pPr>
            <a:r>
              <a:rPr b="0" i="0" lang="en-IN" sz="20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sentence 5: advantages of the proposed system over existing algorithms. </a:t>
            </a:r>
            <a:r>
              <a:rPr b="1" i="1" lang="en-IN" sz="2000" u="none" strike="noStrike">
                <a:solidFill>
                  <a:srgbClr val="CC4125"/>
                </a:solidFill>
              </a:rPr>
              <a:t>(Novelty of the proposed system)</a:t>
            </a:r>
            <a:endParaRPr b="1" i="1" sz="2000">
              <a:solidFill>
                <a:srgbClr val="CC4125"/>
              </a:solidFill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2000"/>
              <a:buChar char="•"/>
            </a:pPr>
            <a:r>
              <a:rPr b="0" i="0" lang="en-IN" sz="20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Sentence 6: Performance metric used to evaluate the proposed system, and 1 or 2 values. </a:t>
            </a:r>
            <a:endParaRPr sz="2000"/>
          </a:p>
        </p:txBody>
      </p:sp>
      <p:pic>
        <p:nvPicPr>
          <p:cNvPr id="159" name="Google Shape;1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7000" y="625500"/>
            <a:ext cx="4876175" cy="518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307a3c7fd_0_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Novelty in Algorithm </a:t>
            </a:r>
            <a:r>
              <a:rPr b="1" lang="en-IN">
                <a:solidFill>
                  <a:srgbClr val="CC4125"/>
                </a:solidFill>
              </a:rPr>
              <a:t>(Very Important)</a:t>
            </a:r>
            <a:endParaRPr b="1">
              <a:solidFill>
                <a:srgbClr val="CC4125"/>
              </a:solidFill>
            </a:endParaRPr>
          </a:p>
        </p:txBody>
      </p:sp>
      <p:sp>
        <p:nvSpPr>
          <p:cNvPr id="165" name="Google Shape;165;g38307a3c7fd_0_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IN"/>
              <a:t>Novelty in a conference paper =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/>
              <a:t>Tweaking an existing algorithm → e.g., modify architecture, parameters, loss function, or preprocessing.</a:t>
            </a:r>
            <a:br>
              <a:rPr lang="en-I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/>
              <a:t>Hybrid methods → e.g., combining two or more models/approaches.</a:t>
            </a:r>
            <a:br>
              <a:rPr lang="en-I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/>
              <a:t>Mathematical modifications → e.g., new equations, adaptive thresholds, custom loss, optimization strategies.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None/>
            </a:pPr>
            <a:r>
              <a:rPr lang="en-IN"/>
              <a:t>Introduction </a:t>
            </a:r>
            <a:r>
              <a:rPr lang="en-IN" sz="3400">
                <a:solidFill>
                  <a:srgbClr val="0000FF"/>
                </a:solidFill>
              </a:rPr>
              <a:t>(Structure)</a:t>
            </a:r>
            <a:endParaRPr/>
          </a:p>
        </p:txBody>
      </p:sp>
      <p:sp>
        <p:nvSpPr>
          <p:cNvPr id="171" name="Google Shape;171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2800"/>
              <a:buChar char="•"/>
            </a:pPr>
            <a:r>
              <a:rPr lang="en-IN"/>
              <a:t>Paragraph 1: Application domain/ large domain introduction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2800"/>
              <a:buChar char="•"/>
            </a:pPr>
            <a:r>
              <a:rPr lang="en-IN"/>
              <a:t>Paragraph 2: Problem statement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What is the existing system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What is the drawback/issues facing by the existing system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2800"/>
              <a:buChar char="•"/>
            </a:pPr>
            <a:r>
              <a:rPr lang="en-IN"/>
              <a:t>Paragraph 3: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What are the issues that will be addressed(Objectives of your project – but don’t mention in bullets write as a paragraph)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C4125"/>
              </a:buClr>
              <a:buSzPts val="2400"/>
              <a:buChar char="•"/>
            </a:pPr>
            <a:r>
              <a:rPr b="1" i="1" lang="en-IN">
                <a:solidFill>
                  <a:srgbClr val="CC4125"/>
                </a:solidFill>
              </a:rPr>
              <a:t>Explain in brief the proposed system and highlight the novelty(Very important)</a:t>
            </a:r>
            <a:endParaRPr b="1" i="1">
              <a:solidFill>
                <a:srgbClr val="CC4125"/>
              </a:solidFill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2800"/>
              <a:buChar char="•"/>
            </a:pPr>
            <a:r>
              <a:rPr lang="en-IN"/>
              <a:t>Paragraph 4: 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Organization of the paper.</a:t>
            </a:r>
            <a:endParaRPr/>
          </a:p>
        </p:txBody>
      </p:sp>
      <p:sp>
        <p:nvSpPr>
          <p:cNvPr id="172" name="Google Shape;172;p27"/>
          <p:cNvSpPr txBox="1"/>
          <p:nvPr/>
        </p:nvSpPr>
        <p:spPr>
          <a:xfrm>
            <a:off x="6025975" y="5084650"/>
            <a:ext cx="5904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Sample:</a:t>
            </a: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IN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https://drive.google.com/file/d/1OYOKeHowdRByJ3l5IDTC1mHLZL2KakBU/view</a:t>
            </a: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None/>
            </a:pPr>
            <a:r>
              <a:rPr lang="en-IN"/>
              <a:t>Related Works/ Literature Survey</a:t>
            </a:r>
            <a:endParaRPr/>
          </a:p>
        </p:txBody>
      </p:sp>
      <p:sp>
        <p:nvSpPr>
          <p:cNvPr id="178" name="Google Shape;178;p28"/>
          <p:cNvSpPr txBox="1"/>
          <p:nvPr>
            <p:ph idx="1" type="body"/>
          </p:nvPr>
        </p:nvSpPr>
        <p:spPr>
          <a:xfrm>
            <a:off x="838200" y="1825625"/>
            <a:ext cx="539770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2500"/>
              <a:buChar char="•"/>
            </a:pPr>
            <a:r>
              <a:rPr b="0" i="0" lang="en-IN" sz="25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Don’t use bullets or numbering, you can have each section as a different paragraph with running words. Don’t give subheadings or subtitles in the survey. </a:t>
            </a:r>
            <a:endParaRPr sz="2500"/>
          </a:p>
        </p:txBody>
      </p:sp>
      <p:pic>
        <p:nvPicPr>
          <p:cNvPr id="179" name="Google Shape;17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8270" y="1825625"/>
            <a:ext cx="4835530" cy="50218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5e6bdcc76_1_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Font typeface="Arial"/>
              <a:buNone/>
            </a:pPr>
            <a:r>
              <a:rPr lang="en-IN"/>
              <a:t>E - Resources</a:t>
            </a:r>
            <a:endParaRPr/>
          </a:p>
        </p:txBody>
      </p:sp>
      <p:sp>
        <p:nvSpPr>
          <p:cNvPr id="185" name="Google Shape;185;g3f5e6bdcc76_1_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350" u="sng">
                <a:solidFill>
                  <a:srgbClr val="0B57D0"/>
                </a:solidFill>
                <a:highlight>
                  <a:srgbClr val="F0F4F9"/>
                </a:highlight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http://203.201.63.46/library/e_resource.html</a:t>
            </a:r>
            <a:endParaRPr sz="1350" u="sng">
              <a:solidFill>
                <a:srgbClr val="0B57D0"/>
              </a:solidFill>
              <a:highlight>
                <a:srgbClr val="F0F4F9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350">
                <a:solidFill>
                  <a:srgbClr val="1F1F1F"/>
                </a:solidFill>
                <a:highlight>
                  <a:srgbClr val="F0F4F9"/>
                </a:highlight>
              </a:rPr>
              <a:t>or</a:t>
            </a:r>
            <a:endParaRPr sz="1350">
              <a:solidFill>
                <a:srgbClr val="1F1F1F"/>
              </a:solidFill>
              <a:highlight>
                <a:srgbClr val="F0F4F9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350">
                <a:solidFill>
                  <a:srgbClr val="1F1F1F"/>
                </a:solidFill>
                <a:highlight>
                  <a:srgbClr val="F0F4F9"/>
                </a:highlight>
              </a:rPr>
              <a:t>User Remote Access URL: </a:t>
            </a:r>
            <a:r>
              <a:rPr lang="en-IN" sz="1350" u="sng">
                <a:solidFill>
                  <a:srgbClr val="0B57D0"/>
                </a:solidFill>
                <a:highlight>
                  <a:srgbClr val="F0F4F9"/>
                </a:highlight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https://access.vtuconsortium.com/cmrit</a:t>
            </a:r>
            <a:endParaRPr sz="1350" u="sng">
              <a:solidFill>
                <a:srgbClr val="0B57D0"/>
              </a:solidFill>
              <a:highlight>
                <a:srgbClr val="F0F4F9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350">
                <a:solidFill>
                  <a:srgbClr val="1F1F1F"/>
                </a:solidFill>
                <a:highlight>
                  <a:srgbClr val="F0F4F9"/>
                </a:highlight>
              </a:rPr>
              <a:t>Login ID: Institutional mail ID</a:t>
            </a:r>
            <a:endParaRPr sz="1350">
              <a:solidFill>
                <a:srgbClr val="1F1F1F"/>
              </a:solidFill>
              <a:highlight>
                <a:srgbClr val="F0F4F9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350">
                <a:solidFill>
                  <a:srgbClr val="1F1F1F"/>
                </a:solidFill>
                <a:highlight>
                  <a:srgbClr val="F0F4F9"/>
                </a:highlight>
              </a:rPr>
              <a:t>Password: vtu@123 (later on, you can change your password.)</a:t>
            </a:r>
            <a:endParaRPr sz="1350">
              <a:solidFill>
                <a:srgbClr val="1F1F1F"/>
              </a:solidFill>
              <a:highlight>
                <a:srgbClr val="F0F4F9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350" u="sng">
                <a:solidFill>
                  <a:srgbClr val="1F1F1F"/>
                </a:solidFill>
                <a:highlight>
                  <a:srgbClr val="F0F4F9"/>
                </a:highlight>
              </a:rPr>
              <a:t>If you are using the college internet connection, then you need not login.</a:t>
            </a:r>
            <a:endParaRPr sz="1350" u="sng">
              <a:solidFill>
                <a:srgbClr val="1F1F1F"/>
              </a:solidFill>
              <a:highlight>
                <a:srgbClr val="F0F4F9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350">
                <a:solidFill>
                  <a:srgbClr val="1F1F1F"/>
                </a:solidFill>
                <a:highlight>
                  <a:srgbClr val="F0F4F9"/>
                </a:highlight>
              </a:rPr>
              <a:t>Base Paper and reference Papers should be from Journals only; not conferences, Preferably from publishers like</a:t>
            </a:r>
            <a:endParaRPr sz="1350">
              <a:solidFill>
                <a:srgbClr val="1F1F1F"/>
              </a:solidFill>
              <a:highlight>
                <a:srgbClr val="F0F4F9"/>
              </a:highlight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1F1F1F"/>
              </a:buClr>
              <a:buSzPts val="1350"/>
              <a:buFont typeface="Times New Roman"/>
              <a:buChar char="●"/>
            </a:pPr>
            <a:r>
              <a:rPr lang="en-IN" sz="1350">
                <a:solidFill>
                  <a:srgbClr val="1F1F1F"/>
                </a:solidFill>
                <a:highlight>
                  <a:srgbClr val="F0F4F9"/>
                </a:highlight>
              </a:rPr>
              <a:t>IEEE</a:t>
            </a:r>
            <a:endParaRPr sz="1350">
              <a:solidFill>
                <a:srgbClr val="1F1F1F"/>
              </a:solidFill>
              <a:highlight>
                <a:srgbClr val="F0F4F9"/>
              </a:highlight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50"/>
              <a:buFont typeface="Times New Roman"/>
              <a:buChar char="●"/>
            </a:pPr>
            <a:r>
              <a:rPr lang="en-IN" sz="1350">
                <a:solidFill>
                  <a:srgbClr val="1F1F1F"/>
                </a:solidFill>
                <a:highlight>
                  <a:srgbClr val="F0F4F9"/>
                </a:highlight>
              </a:rPr>
              <a:t>Springer</a:t>
            </a:r>
            <a:endParaRPr sz="1350">
              <a:solidFill>
                <a:srgbClr val="1F1F1F"/>
              </a:solidFill>
              <a:highlight>
                <a:srgbClr val="F0F4F9"/>
              </a:highlight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50"/>
              <a:buFont typeface="Times New Roman"/>
              <a:buChar char="●"/>
            </a:pPr>
            <a:r>
              <a:rPr lang="en-IN" sz="1350">
                <a:solidFill>
                  <a:srgbClr val="1F1F1F"/>
                </a:solidFill>
                <a:highlight>
                  <a:srgbClr val="F0F4F9"/>
                </a:highlight>
              </a:rPr>
              <a:t>Elsevier</a:t>
            </a:r>
            <a:endParaRPr sz="1350">
              <a:solidFill>
                <a:srgbClr val="1F1F1F"/>
              </a:solidFill>
              <a:highlight>
                <a:srgbClr val="F0F4F9"/>
              </a:highlight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50"/>
              <a:buFont typeface="Times New Roman"/>
              <a:buChar char="●"/>
            </a:pPr>
            <a:r>
              <a:rPr lang="en-IN" sz="1350">
                <a:solidFill>
                  <a:srgbClr val="1F1F1F"/>
                </a:solidFill>
                <a:highlight>
                  <a:srgbClr val="F0F4F9"/>
                </a:highlight>
              </a:rPr>
              <a:t>Taylor &amp; Francis</a:t>
            </a:r>
            <a:endParaRPr sz="1350">
              <a:solidFill>
                <a:srgbClr val="1F1F1F"/>
              </a:solidFill>
              <a:highlight>
                <a:srgbClr val="F0F4F9"/>
              </a:highlight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50"/>
              <a:buFont typeface="Times New Roman"/>
              <a:buChar char="●"/>
            </a:pPr>
            <a:r>
              <a:rPr lang="en-IN" sz="1350">
                <a:solidFill>
                  <a:srgbClr val="1F1F1F"/>
                </a:solidFill>
                <a:highlight>
                  <a:srgbClr val="F0F4F9"/>
                </a:highlight>
              </a:rPr>
              <a:t>AMC etc..</a:t>
            </a:r>
            <a:endParaRPr sz="1350">
              <a:solidFill>
                <a:srgbClr val="1F1F1F"/>
              </a:solidFill>
              <a:highlight>
                <a:srgbClr val="F0F4F9"/>
              </a:highlight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3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None/>
            </a:pPr>
            <a:r>
              <a:rPr lang="en-IN"/>
              <a:t>Proposed Methodology</a:t>
            </a:r>
            <a:endParaRPr/>
          </a:p>
        </p:txBody>
      </p:sp>
      <p:sp>
        <p:nvSpPr>
          <p:cNvPr id="191" name="Google Shape;191;p29"/>
          <p:cNvSpPr txBox="1"/>
          <p:nvPr>
            <p:ph idx="1" type="body"/>
          </p:nvPr>
        </p:nvSpPr>
        <p:spPr>
          <a:xfrm>
            <a:off x="838200" y="1825625"/>
            <a:ext cx="568252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2800"/>
              <a:buChar char="•"/>
            </a:pPr>
            <a:r>
              <a:rPr b="1" lang="en-IN"/>
              <a:t>Paragraph 1</a:t>
            </a:r>
            <a:r>
              <a:rPr lang="en-IN"/>
              <a:t>: Summarize the proposed methodology in three to five lines, 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2800"/>
              <a:buChar char="•"/>
            </a:pPr>
            <a:r>
              <a:rPr lang="en-IN"/>
              <a:t>Divide your Proposed Methodology into 3 to 5 modules not more than that.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2800"/>
              <a:buChar char="•"/>
            </a:pPr>
            <a:r>
              <a:rPr lang="en-IN"/>
              <a:t>Have a Block Diagram and call that.</a:t>
            </a:r>
            <a:endParaRPr/>
          </a:p>
        </p:txBody>
      </p:sp>
      <p:pic>
        <p:nvPicPr>
          <p:cNvPr id="192" name="Google Shape;19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9426" y="1735138"/>
            <a:ext cx="4359775" cy="453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None/>
            </a:pPr>
            <a:r>
              <a:rPr lang="en-IN"/>
              <a:t>Proposed Methodology</a:t>
            </a:r>
            <a:endParaRPr/>
          </a:p>
        </p:txBody>
      </p:sp>
      <p:sp>
        <p:nvSpPr>
          <p:cNvPr id="198" name="Google Shape;198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2800"/>
              <a:buChar char="•"/>
            </a:pPr>
            <a:r>
              <a:rPr b="1" lang="en-IN"/>
              <a:t>Subheading 1: Module 1</a:t>
            </a:r>
            <a:endParaRPr b="1"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Explain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Write Mathematical Equation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99" name="Google Shape;19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5251" y="1960550"/>
            <a:ext cx="5257320" cy="435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None/>
            </a:pPr>
            <a:r>
              <a:rPr lang="en-IN"/>
              <a:t>Proposed Methodology</a:t>
            </a:r>
            <a:endParaRPr/>
          </a:p>
        </p:txBody>
      </p:sp>
      <p:sp>
        <p:nvSpPr>
          <p:cNvPr id="205" name="Google Shape;205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2800"/>
              <a:buChar char="•"/>
            </a:pPr>
            <a:r>
              <a:rPr b="1" lang="en-IN"/>
              <a:t>Subheading 2 : Module 2</a:t>
            </a:r>
            <a:endParaRPr b="1"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Explain 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Algorithm/ Pseudo code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06" name="Google Shape;20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9042" y="1825625"/>
            <a:ext cx="3744250" cy="4794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7b85e15185_0_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None/>
            </a:pPr>
            <a:r>
              <a:rPr lang="en-IN"/>
              <a:t>Results and Discussion</a:t>
            </a:r>
            <a:endParaRPr/>
          </a:p>
        </p:txBody>
      </p:sp>
      <p:pic>
        <p:nvPicPr>
          <p:cNvPr id="212" name="Google Shape;212;g37b85e15185_0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3200" y="2236125"/>
            <a:ext cx="9771274" cy="222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None/>
            </a:pPr>
            <a:r>
              <a:rPr lang="en-IN"/>
              <a:t>Results and Discussion</a:t>
            </a:r>
            <a:endParaRPr/>
          </a:p>
        </p:txBody>
      </p:sp>
      <p:sp>
        <p:nvSpPr>
          <p:cNvPr id="218" name="Google Shape;218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2800"/>
              <a:buChar char="•"/>
            </a:pPr>
            <a:r>
              <a:rPr b="1" lang="en-IN"/>
              <a:t>Subheading 1: Dataset:</a:t>
            </a:r>
            <a:endParaRPr b="1"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Explain the source of the dataset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Description of the dataset 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Can have sample images as a grid</a:t>
            </a:r>
            <a:endParaRPr/>
          </a:p>
        </p:txBody>
      </p:sp>
      <p:graphicFrame>
        <p:nvGraphicFramePr>
          <p:cNvPr id="219" name="Google Shape;219;p32"/>
          <p:cNvGraphicFramePr/>
          <p:nvPr/>
        </p:nvGraphicFramePr>
        <p:xfrm>
          <a:off x="6685301" y="1950859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{0B534E2F-1D5C-44E1-A210-C693553C9805}</a:tableStyleId>
              </a:tblPr>
              <a:tblGrid>
                <a:gridCol w="482825"/>
                <a:gridCol w="710325"/>
                <a:gridCol w="709575"/>
                <a:gridCol w="1926325"/>
              </a:tblGrid>
              <a:tr h="127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Label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Attribute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Type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Description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127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A</a:t>
                      </a:r>
                      <a:r>
                        <a:rPr baseline="-25000" lang="en-IN" sz="800" u="none" cap="none" strike="noStrike"/>
                        <a:t>3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age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Numerical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Age in years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254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A</a:t>
                      </a:r>
                      <a:r>
                        <a:rPr baseline="-25000" lang="en-IN" sz="800" u="none" cap="none" strike="noStrike"/>
                        <a:t>4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sex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Nominal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Gender of the patient: 0:female, 1:male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381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A</a:t>
                      </a:r>
                      <a:r>
                        <a:rPr baseline="-25000" lang="en-IN" sz="800" u="none" cap="none" strike="noStrike"/>
                        <a:t>9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cp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Nominal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Type of chest pain: 1: typical angina, 2: atypical angina, 3: non-anginal pain, 4: asymptomatic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127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A</a:t>
                      </a:r>
                      <a:r>
                        <a:rPr baseline="-25000" lang="en-IN" sz="800" u="none" cap="none" strike="noStrike"/>
                        <a:t>10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trestbps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Numerical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Resting blood pressure (in mm Hg)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127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A</a:t>
                      </a:r>
                      <a:r>
                        <a:rPr baseline="-25000" lang="en-IN" sz="800" u="none" cap="none" strike="noStrike"/>
                        <a:t>12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chol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Numerical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Serum cholesterol in mg/dl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254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A</a:t>
                      </a:r>
                      <a:r>
                        <a:rPr baseline="-25000" lang="en-IN" sz="800" u="none" cap="none" strike="noStrike"/>
                        <a:t>16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fbs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Nominal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Fasting blood sugar&gt;120 mg/dl: 0:false , 1:true 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63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A</a:t>
                      </a:r>
                      <a:r>
                        <a:rPr baseline="-25000" lang="en-IN" sz="800" u="none" cap="none" strike="noStrike"/>
                        <a:t>19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restecg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Nominal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resting electrocardiographic results: 0: normal, 1: having ST-T wave anomaly, 2: showing feasible or definite left ventricular hypertrophy by Estes' criteria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127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A</a:t>
                      </a:r>
                      <a:r>
                        <a:rPr baseline="-25000" lang="en-IN" sz="800" u="none" cap="none" strike="noStrike"/>
                        <a:t>32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thalach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Numerical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Maximum heart rate 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127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A</a:t>
                      </a:r>
                      <a:r>
                        <a:rPr baseline="-25000" lang="en-IN" sz="800" u="none" cap="none" strike="noStrike"/>
                        <a:t>38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exang 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Nominal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Exercise-induced angina: 0: no, 1: yes 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254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A</a:t>
                      </a:r>
                      <a:r>
                        <a:rPr baseline="-25000" lang="en-IN" sz="800" u="none" cap="none" strike="noStrike"/>
                        <a:t>40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old peak 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Numerical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Depression induced by exercise relative to rest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381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A</a:t>
                      </a:r>
                      <a:r>
                        <a:rPr baseline="-25000" lang="en-IN" sz="800" u="none" cap="none" strike="noStrike"/>
                        <a:t>41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slope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Nominal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The slope of the peak exercise segment: 1: up sloping, 2: flat, 3: down sloping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381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A</a:t>
                      </a:r>
                      <a:r>
                        <a:rPr baseline="-25000" lang="en-IN" sz="800" u="none" cap="none" strike="noStrike"/>
                        <a:t>44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ca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Numerical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Number of major vessels colored by fluoroscopy that ranged between 0 and 3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254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A</a:t>
                      </a:r>
                      <a:r>
                        <a:rPr baseline="-25000" lang="en-IN" sz="800" u="none" cap="none" strike="noStrike"/>
                        <a:t>51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thal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Nominal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3: normal, 6: fixed defect, 7: reversible defect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381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A</a:t>
                      </a:r>
                      <a:r>
                        <a:rPr baseline="-25000" lang="en-IN" sz="800" u="none" cap="none" strike="noStrike"/>
                        <a:t>58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num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Nominal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IN" sz="800" u="none" cap="none" strike="noStrike"/>
                        <a:t>Diagnosis classes: 0: no presence, 1: least likely to have heart disease, 2 to 4:More likely have heart disease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  <p:pic>
        <p:nvPicPr>
          <p:cNvPr id="220" name="Google Shape;22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758851"/>
            <a:ext cx="3829050" cy="2850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None/>
            </a:pPr>
            <a:r>
              <a:rPr lang="en-IN"/>
              <a:t>Results and Discussion Cont…</a:t>
            </a:r>
            <a:endParaRPr/>
          </a:p>
        </p:txBody>
      </p:sp>
      <p:sp>
        <p:nvSpPr>
          <p:cNvPr id="226" name="Google Shape;226;p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2800"/>
              <a:buChar char="•"/>
            </a:pPr>
            <a:r>
              <a:rPr b="1" lang="en-IN"/>
              <a:t>Subheading 2: Experimental setup:</a:t>
            </a:r>
            <a:endParaRPr b="1"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Mention your minimum system requirement or the libraries used etc.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Don’t use a table, explain in running words 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None/>
            </a:pPr>
            <a:r>
              <a:rPr lang="en-IN"/>
              <a:t>Cont…</a:t>
            </a:r>
            <a:endParaRPr/>
          </a:p>
        </p:txBody>
      </p:sp>
      <p:sp>
        <p:nvSpPr>
          <p:cNvPr id="232" name="Google Shape;232;p34"/>
          <p:cNvSpPr txBox="1"/>
          <p:nvPr>
            <p:ph idx="1" type="body"/>
          </p:nvPr>
        </p:nvSpPr>
        <p:spPr>
          <a:xfrm>
            <a:off x="838200" y="1825625"/>
            <a:ext cx="598232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2800"/>
              <a:buChar char="•"/>
            </a:pPr>
            <a:r>
              <a:rPr b="1" lang="en-IN"/>
              <a:t>Subheading 3: Performance Metrics:</a:t>
            </a:r>
            <a:endParaRPr b="1"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Minimum 5 metrics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Let each metric be a Subheading.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Write the definition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Formula for calculating the metric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Table and graph for each metric by comparing with 3 or 4 existing methodology.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33" name="Google Shape;23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0249" y="2042775"/>
            <a:ext cx="5218875" cy="374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None/>
            </a:pPr>
            <a:r>
              <a:rPr lang="en-IN"/>
              <a:t>Sample Graphs and Tables</a:t>
            </a:r>
            <a:endParaRPr/>
          </a:p>
        </p:txBody>
      </p:sp>
      <p:sp>
        <p:nvSpPr>
          <p:cNvPr id="239" name="Google Shape;239;p3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IMG_256" id="240" name="Google Shape;24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1115" y="2362199"/>
            <a:ext cx="4624487" cy="3199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8517" y="1985378"/>
            <a:ext cx="5353797" cy="4191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None/>
            </a:pPr>
            <a:r>
              <a:rPr lang="en-IN"/>
              <a:t>Conclusion and Future Work</a:t>
            </a:r>
            <a:endParaRPr/>
          </a:p>
        </p:txBody>
      </p:sp>
      <p:sp>
        <p:nvSpPr>
          <p:cNvPr id="247" name="Google Shape;247;p3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2800"/>
              <a:buChar char="•"/>
            </a:pPr>
            <a:r>
              <a:rPr lang="en-IN"/>
              <a:t>Summarize your methodology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2800"/>
              <a:buChar char="•"/>
            </a:pPr>
            <a:r>
              <a:rPr lang="en-IN"/>
              <a:t>Highlight how the objectives were met using the proposed methodology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2800"/>
              <a:buChar char="•"/>
            </a:pPr>
            <a:r>
              <a:rPr lang="en-IN"/>
              <a:t>Quantitatively mention the evaluation metric values.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None/>
            </a:pPr>
            <a:r>
              <a:rPr lang="en-IN"/>
              <a:t>References</a:t>
            </a:r>
            <a:endParaRPr/>
          </a:p>
        </p:txBody>
      </p:sp>
      <p:sp>
        <p:nvSpPr>
          <p:cNvPr id="253" name="Google Shape;253;p37"/>
          <p:cNvSpPr txBox="1"/>
          <p:nvPr>
            <p:ph idx="1" type="body"/>
          </p:nvPr>
        </p:nvSpPr>
        <p:spPr>
          <a:xfrm>
            <a:off x="501325" y="1961125"/>
            <a:ext cx="10515600" cy="24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2800"/>
              <a:buChar char="•"/>
            </a:pPr>
            <a:r>
              <a:rPr lang="en-IN"/>
              <a:t>Minimum 15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2800"/>
              <a:buChar char="•"/>
            </a:pPr>
            <a:r>
              <a:rPr lang="en-IN"/>
              <a:t>IEEE Format: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Refer simply to the reference number, as in [3]—do not use “Ref. [3]” or “reference [3]” 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IN" sz="1800">
                <a:latin typeface="Times New Roman"/>
                <a:ea typeface="Times New Roman"/>
                <a:cs typeface="Times New Roman"/>
                <a:sym typeface="Times New Roman"/>
              </a:rPr>
              <a:t>G. Eason, B. Noble, and I. N. Sneddon, “On certain integrals of Lipschitz-Hankel type involving products of Bessel functions,” Phil. Trans. Roy. Soc. London, vol. A247, pp. 529–551, April 1955. </a:t>
            </a:r>
            <a:r>
              <a:rPr i="1" lang="en-IN" sz="1800">
                <a:latin typeface="Times New Roman"/>
                <a:ea typeface="Times New Roman"/>
                <a:cs typeface="Times New Roman"/>
                <a:sym typeface="Times New Roman"/>
              </a:rPr>
              <a:t>(references)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54" name="Google Shape;254;p37"/>
          <p:cNvSpPr txBox="1"/>
          <p:nvPr/>
        </p:nvSpPr>
        <p:spPr>
          <a:xfrm>
            <a:off x="1179050" y="4421725"/>
            <a:ext cx="9720900" cy="19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should include at least </a:t>
            </a:r>
            <a:r>
              <a:rPr b="1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citations from CMRIT publications</a:t>
            </a: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 the following link:</a:t>
            </a:r>
            <a:r>
              <a:rPr b="0" i="0" lang="en-IN" sz="1600" u="none" cap="none" strike="noStrike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IN" sz="16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All CMRIT Publications</a:t>
            </a: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 the sheet using keywords related to your paper title.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 the required titles and click on </a:t>
            </a:r>
            <a:r>
              <a:rPr b="1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“Cite”</a:t>
            </a: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get the reference details.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these details in your reference section.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1" sz="1900" u="none" cap="none" strike="noStrike">
              <a:solidFill>
                <a:srgbClr val="202124"/>
              </a:solidFill>
              <a:highlight>
                <a:srgbClr val="F8F9FA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1" sz="1900" u="none" cap="none" strike="noStrike">
              <a:solidFill>
                <a:srgbClr val="202124"/>
              </a:solidFill>
              <a:highlight>
                <a:srgbClr val="F8F9FA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79424e9f92_1_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Plagiarism</a:t>
            </a:r>
            <a:endParaRPr/>
          </a:p>
        </p:txBody>
      </p:sp>
      <p:sp>
        <p:nvSpPr>
          <p:cNvPr id="260" name="Google Shape;260;g379424e9f92_1_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Drillbit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IN"/>
              <a:t>Turnitin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IN"/>
              <a:t>AI Score and Similarity should be less than 10%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b="1" i="1" lang="en-IN"/>
              <a:t>Tip: Rephrase the AI generated content to reduce AI score</a:t>
            </a:r>
            <a:endParaRPr b="1" i="1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None/>
            </a:pPr>
            <a:r>
              <a:rPr lang="en-IN"/>
              <a:t>Conference Details</a:t>
            </a:r>
            <a:endParaRPr/>
          </a:p>
        </p:txBody>
      </p:sp>
      <p:sp>
        <p:nvSpPr>
          <p:cNvPr id="266" name="Google Shape;266;p3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IN" u="sng">
                <a:solidFill>
                  <a:schemeClr val="hlink"/>
                </a:solidFill>
                <a:hlinkClick r:id="rId3"/>
              </a:rPr>
              <a:t>Search For IEEE Conference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76c5937f9a_1_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Templates</a:t>
            </a:r>
            <a:endParaRPr/>
          </a:p>
        </p:txBody>
      </p:sp>
      <p:sp>
        <p:nvSpPr>
          <p:cNvPr id="272" name="Google Shape;272;g376c5937f9a_1_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b="1" lang="en-IN" sz="2700" u="sng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IEEE Manuscript Templates for Conference Proceedings :</a:t>
            </a:r>
            <a:r>
              <a:rPr lang="en-IN" sz="27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IN" sz="2700" u="sng">
                <a:solidFill>
                  <a:srgbClr val="1A73E8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https://www.ieee.org/conferences/publishing/templates</a:t>
            </a:r>
            <a:endParaRPr sz="45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45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45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8306122bdb_0_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Sample IEEE Conference Papers</a:t>
            </a:r>
            <a:endParaRPr/>
          </a:p>
        </p:txBody>
      </p:sp>
      <p:sp>
        <p:nvSpPr>
          <p:cNvPr id="278" name="Google Shape;278;g38306122bdb_0_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AutoNum type="arabicPeriod"/>
            </a:pPr>
            <a:r>
              <a:rPr lang="en-IN" u="sng">
                <a:solidFill>
                  <a:schemeClr val="hlink"/>
                </a:solidFill>
                <a:hlinkClick r:id="rId3"/>
              </a:rPr>
              <a:t>https://drive.google.com/file/d/1OYOKeHowdRByJ3l5IDTC1mHLZL2KakBU/view?usp=sharing</a:t>
            </a:r>
            <a:r>
              <a:rPr lang="en-IN"/>
              <a:t> 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 u="sng">
                <a:solidFill>
                  <a:schemeClr val="hlink"/>
                </a:solidFill>
                <a:hlinkClick r:id="rId4"/>
              </a:rPr>
              <a:t>https://drive.google.com/file/d/1bLYhJLuQnnq8F5h7Sj06hbEtScmWTYdi/view?usp=sharing</a:t>
            </a:r>
            <a:r>
              <a:rPr lang="en-IN"/>
              <a:t> 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 u="sng">
                <a:solidFill>
                  <a:schemeClr val="hlink"/>
                </a:solidFill>
                <a:hlinkClick r:id="rId5"/>
              </a:rPr>
              <a:t>https://drive.google.com/file/d/1goNRUYbEOoHebPu5zAVMWDuDuoNSJQbP/view?usp=sharing</a:t>
            </a:r>
            <a:r>
              <a:rPr lang="en-IN"/>
              <a:t> (Student Paper)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5e6bdcc76_0_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Feedback</a:t>
            </a:r>
            <a:endParaRPr/>
          </a:p>
        </p:txBody>
      </p:sp>
      <p:pic>
        <p:nvPicPr>
          <p:cNvPr id="284" name="Google Shape;284;g3f5e6bdcc76_0_17" title="feedba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2024-10-01T05:32:25Z</dcterms:created>
  <dc:creator>Manju V N</dc:creator>
</cp:coreProperties>
</file>